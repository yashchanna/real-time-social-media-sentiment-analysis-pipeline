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embeddedFontLst>
    <p:embeddedFont>
      <p:font typeface="DM Sans" pitchFamily="2" charset="0"/>
      <p:regular r:id="rId23"/>
      <p:bold r:id="rId24"/>
      <p:italic r:id="rId25"/>
    </p:embeddedFont>
    <p:embeddedFont>
      <p:font typeface="DM Sans Bold" charset="0"/>
      <p:regular r:id="rId26"/>
    </p:embeddedFont>
    <p:embeddedFont>
      <p:font typeface="Libre Baskerville" panose="02000000000000000000" pitchFamily="2" charset="0"/>
      <p:regular r:id="rId27"/>
    </p:embeddedFont>
    <p:embeddedFont>
      <p:font typeface="Libre Baskerville Bold" panose="02000000000000000000" charset="0"/>
      <p:regular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044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423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 Social Media Sentiment Analysis Platform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6899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data pipeline built using ADF, ADLS Gen2, Databricks, Delta Lake, dbt, Airflow, Pytest and Slack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354884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Meet the Team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61475" y="3992761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6832" y="418812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Yash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4347359" y="3992761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2716" y="418812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Adarsh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033244" y="3992761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418812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Shaista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661475" y="4867771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832" y="506313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Nawaz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4347359" y="4867771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2716" y="506313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Sneha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033244" y="4867771"/>
            <a:ext cx="3496877" cy="685998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8600" y="506313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Rakesh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406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Overview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101923"/>
            <a:ext cx="1086874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Challenge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61475" y="1564283"/>
            <a:ext cx="3542914" cy="1079599"/>
          </a:xfrm>
          <a:prstGeom prst="roundRect">
            <a:avLst>
              <a:gd name="adj" fmla="val 5860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1135" y="1733947"/>
            <a:ext cx="320359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Large Volumes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31135" y="2041227"/>
            <a:ext cx="320359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 volumes of social media data from multiple datasets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4341" y="1564283"/>
            <a:ext cx="3542914" cy="1079599"/>
          </a:xfrm>
          <a:prstGeom prst="roundRect">
            <a:avLst>
              <a:gd name="adj" fmla="val 5860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4001" y="1733947"/>
            <a:ext cx="320359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Quality Issues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94001" y="2041227"/>
            <a:ext cx="320359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Raw data contains missing values, duplicates, and inconsistencies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87207" y="1564283"/>
            <a:ext cx="3543013" cy="1079599"/>
          </a:xfrm>
          <a:prstGeom prst="roundRect">
            <a:avLst>
              <a:gd name="adj" fmla="val 5860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6867" y="1733947"/>
            <a:ext cx="320369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Analysis Difficulty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56867" y="2041227"/>
            <a:ext cx="3203693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Difficult to analyze sentiment, engagement, users, and trends directly from raw data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1475" y="2823865"/>
            <a:ext cx="1086874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Our Solution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61475" y="3286224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1475" y="3523059"/>
            <a:ext cx="3542914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3636466"/>
            <a:ext cx="354291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Azure Data Factory &amp; ADLS Gen2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3943747"/>
            <a:ext cx="354291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Ingest and store the social media datasets in a centralized data lake.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24341" y="3286224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24341" y="3523059"/>
            <a:ext cx="3542914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0" name="Text 18"/>
          <p:cNvSpPr/>
          <p:nvPr/>
        </p:nvSpPr>
        <p:spPr>
          <a:xfrm>
            <a:off x="4324341" y="3636466"/>
            <a:ext cx="354291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Databricks Medallion Architecture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324341" y="3943747"/>
            <a:ext cx="354291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 data through Bronze → Silver → Gold layers using PySpark.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987207" y="3286224"/>
            <a:ext cx="301221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87207" y="3523059"/>
            <a:ext cx="3543013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4" name="Text 22"/>
          <p:cNvSpPr/>
          <p:nvPr/>
        </p:nvSpPr>
        <p:spPr>
          <a:xfrm>
            <a:off x="7987207" y="3636466"/>
            <a:ext cx="3543013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Analytics &amp; Data Quality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987207" y="3943747"/>
            <a:ext cx="3543013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clean Gold data for dashboards, with Pytest validation, Airflow orchestration, and Slack failure alerts.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1475" y="4886127"/>
            <a:ext cx="1086874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Platform at a Glance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61475" y="5376763"/>
            <a:ext cx="2604625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3900" dirty="0"/>
          </a:p>
        </p:txBody>
      </p:sp>
      <p:sp>
        <p:nvSpPr>
          <p:cNvPr id="28" name="Text 26"/>
          <p:cNvSpPr/>
          <p:nvPr/>
        </p:nvSpPr>
        <p:spPr>
          <a:xfrm>
            <a:off x="661475" y="6039148"/>
            <a:ext cx="26046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Datasets ingested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416115" y="5376763"/>
            <a:ext cx="2604725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3900" dirty="0"/>
          </a:p>
        </p:txBody>
      </p:sp>
      <p:sp>
        <p:nvSpPr>
          <p:cNvPr id="30" name="Text 28"/>
          <p:cNvSpPr/>
          <p:nvPr/>
        </p:nvSpPr>
        <p:spPr>
          <a:xfrm>
            <a:off x="3416115" y="6039148"/>
            <a:ext cx="26047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Medallion layers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170855" y="5376763"/>
            <a:ext cx="2604625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4+1</a:t>
            </a:r>
            <a:endParaRPr lang="en-US" sz="3900" dirty="0"/>
          </a:p>
        </p:txBody>
      </p:sp>
      <p:sp>
        <p:nvSpPr>
          <p:cNvPr id="32" name="Text 30"/>
          <p:cNvSpPr/>
          <p:nvPr/>
        </p:nvSpPr>
        <p:spPr>
          <a:xfrm>
            <a:off x="6170855" y="6039148"/>
            <a:ext cx="26046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Dimension &amp; fact tables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925495" y="5376763"/>
            <a:ext cx="2604725" cy="49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14</a:t>
            </a:r>
            <a:endParaRPr lang="en-US" sz="3900" dirty="0"/>
          </a:p>
        </p:txBody>
      </p:sp>
      <p:sp>
        <p:nvSpPr>
          <p:cNvPr id="34" name="Text 32"/>
          <p:cNvSpPr/>
          <p:nvPr/>
        </p:nvSpPr>
        <p:spPr>
          <a:xfrm>
            <a:off x="8925495" y="6039148"/>
            <a:ext cx="26047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views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878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Stack</a:t>
            </a:r>
            <a:endParaRPr lang="en-US" sz="3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16335"/>
          <a:ext cx="10868745" cy="4979866"/>
        </p:xfrm>
        <a:graphic>
          <a:graphicData uri="http://schemas.openxmlformats.org/drawingml/2006/table">
            <a:tbl>
              <a:tblPr/>
              <a:tblGrid>
                <a:gridCol w="391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3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Technology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Purpose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Microsoft Azure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Cloud Platform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Azure Data Factory (ADF)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Data Ingestion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Azure Data Lake Storage Gen2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Storage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Azure Databricks + PySpark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Processing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Unity Catalog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Data Governance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Delta Lake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Storage Format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dbt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Transformation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Apache Airflow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Orchestration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Dashboards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Visualization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5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Pytest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Testing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23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Slack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5424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Alerts</a:t>
                      </a:r>
                      <a:endParaRPr lang="en-US" sz="12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9485" marR="159485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581" y="26408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High-Level Architecture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760" y="716326"/>
            <a:ext cx="8946480" cy="59643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226" y="290264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Low-Level Design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168" y="770185"/>
            <a:ext cx="8963664" cy="5975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31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Bronze Layer — Raw Data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367260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562622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Source Datasets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971304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Five CSV datasets covering tweets, sentiment, trends, valid tweets, and user metadata.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367260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562622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ADF Ingestion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971304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Linked Services and a Copy Activity pipeline move CSV files into ADLS Gen2.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960515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15587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Parquet Format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564559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CSV files are converted to Parquet for efficient downstream processing.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960515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4155877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Databricks &amp; Unity Catalog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564559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Unity Catalog manages data access, allowing Databricks to securely access Parquet files and load Bronze tables.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7041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Silver Layer — Cleaned Data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23504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Silver data becomes the single source of truth for all downstream Gold transformations.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56" y="2556470"/>
            <a:ext cx="6830048" cy="3125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31666" y="4816621"/>
            <a:ext cx="1282299" cy="494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Validation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133461" y="4816621"/>
            <a:ext cx="1623527" cy="494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Standardization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2708354" y="4816621"/>
            <a:ext cx="1282299" cy="494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Null Handling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65958" y="4816621"/>
            <a:ext cx="1282298" cy="494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Duplicate Removal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18163" y="2169815"/>
            <a:ext cx="3518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Happens in Silver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018163" y="2622947"/>
            <a:ext cx="3518308" cy="3557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Duplicate Removal: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Remove duplicate records carried over from the Bronze layer.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Null Handling: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Apply defined cleansing rules to address missing values systematically.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Standardization: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Normalize text, timestamps, identifiers and formats for consistency.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 Validation: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Apply validation and business rules to produce reliable Silver tables ready for Gold promotion.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941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Gold Layer — Analytics Ready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488678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Gold layer transforms cleaned Silver data into business-ready analytical models for reporting and dashboarding.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89931"/>
            <a:ext cx="465126" cy="4651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683966"/>
            <a:ext cx="531987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Analytical Models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61475" y="3084513"/>
            <a:ext cx="531987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dbt models are created for sentiment, trends, tweets, engagement, and user metadata analysis.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0244" y="1989931"/>
            <a:ext cx="465126" cy="4651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0244" y="2683966"/>
            <a:ext cx="531997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Aggregations &amp; KPIs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210244" y="3084513"/>
            <a:ext cx="531997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Calculates metrics such as tweet count, sentiment distribution, engagement, impressions, and topic performance.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336653"/>
            <a:ext cx="465126" cy="4651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5030688"/>
            <a:ext cx="531987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Dashboard Ready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61475" y="5431234"/>
            <a:ext cx="531987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Gold models provide structured data for creating AI-assisted dashboards in Databricks.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0244" y="4336653"/>
            <a:ext cx="465126" cy="4651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10244" y="5030688"/>
            <a:ext cx="531997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Insights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210244" y="5431234"/>
            <a:ext cx="531997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Helps users understand sentiment, engagement, trends, country-wise activity, and user insights for easier decision-making.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185" y="312142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Star Schema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887" y="745926"/>
            <a:ext cx="9090226" cy="60603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638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5C4E3D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Analytics Dashboards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927298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Sentiment &amp; Engagement Analytics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61475" y="1407220"/>
            <a:ext cx="114783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in Databricks SQL using the Gold layer, these dashboards provide insights into sentiment trends, topic engagement, and overall social media performance.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643856"/>
          <a:ext cx="10868746" cy="4672690"/>
        </p:xfrm>
        <a:graphic>
          <a:graphicData uri="http://schemas.openxmlformats.org/drawingml/2006/table">
            <a:tbl>
              <a:tblPr/>
              <a:tblGrid>
                <a:gridCol w="543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6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3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18137" marR="118137" marT="6350" marB="6350" anchor="ctr">
                    <a:lnL w="12700" cap="flat" cmpd="sng" algn="ctr">
                      <a:solidFill>
                        <a:srgbClr val="F5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3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92" y="1700808"/>
            <a:ext cx="4209945" cy="22352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090" y="1700808"/>
            <a:ext cx="4209945" cy="22352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92" y="4037211"/>
            <a:ext cx="4209945" cy="22352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090" y="4037211"/>
            <a:ext cx="4209945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230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Trends &amp; Activity Insights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9176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Highlights changes in tweet activity over time, average engagement metrics, and tweet volume across countries to identify key social media trends.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421856"/>
            <a:ext cx="3277709" cy="174019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691" y="3421856"/>
            <a:ext cx="3390914" cy="180032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5112" y="3421856"/>
            <a:ext cx="3277709" cy="17401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5213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Tweet &amp; Engagement Insights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1046956"/>
            <a:ext cx="11478330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Highlights tweet reach, engagement levels, and average interactions per tweet to understand overall content performance.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247180"/>
          <a:ext cx="10868746" cy="5015481"/>
        </p:xfrm>
        <a:graphic>
          <a:graphicData uri="http://schemas.openxmlformats.org/drawingml/2006/table">
            <a:tbl>
              <a:tblPr/>
              <a:tblGrid>
                <a:gridCol w="543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233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1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35" y="1289348"/>
            <a:ext cx="4405698" cy="233908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108" y="1289348"/>
            <a:ext cx="4209945" cy="22352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735" y="3712766"/>
            <a:ext cx="4405698" cy="233908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2108" y="3712766"/>
            <a:ext cx="4209945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430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&amp; Follower Insights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429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Highlights follower distribution, user performance across countries, and the proportion of verified and unverified users.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270647"/>
            <a:ext cx="3277709" cy="174019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691" y="3270647"/>
            <a:ext cx="3390914" cy="180032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5112" y="3270647"/>
            <a:ext cx="3277709" cy="17401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74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5C4E3D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Bronze, silver ,Gold Layer — pytest Checks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0607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pytest suite (test_bronze), (test_silver), (test_gold), run on every Bronze Delta table before data is promoted to Silver and run on every Silver Delta table before data is promoted to Gold.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623542"/>
            <a:ext cx="10868745" cy="288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Read the Files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Load and verify the source datasets from ADLS Gen2.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Table Validation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Confirm that the required Bronze, Silver and Gold tables are created successfully.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Row Count Check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Verify that tables contain records after ingestion and transformation.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Required Columns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Validate that all expected columns are present in each layer.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Duplicate Check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Identify and verify duplicate records, especially during Silver-layer cleansing.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Metadata Validation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Check important metadata and audit columns used during processing.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Null Check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Validate required fields and ensure missing values are handled correctly.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 Type Validation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Confirm that columns have the expected data types after transformation.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804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5C4E3D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Testing &amp; Validation — Data Quality Checks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5736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layer ships with its own pytest notebook (test_bronze, test_silver, test_gold) — 8 automated checks each, run before data is promoted downstream.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544888"/>
            <a:ext cx="3924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Bronze — Raw Ingestion Checks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017367"/>
            <a:ext cx="331501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 existence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 count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Required column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 checks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Duplicate checks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443996" y="3544888"/>
            <a:ext cx="38124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Silver — Clean Data Checks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443996" y="4017367"/>
            <a:ext cx="3202900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 and row count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Required column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Duplicate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type validation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114402" y="3544888"/>
            <a:ext cx="40379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Gold — Business Layer Checks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114402" y="4017367"/>
            <a:ext cx="342831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Fact and dimension table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 count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relationship checks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Duplicate checks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type validation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25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Monitoring &amp; Alerts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55056"/>
            <a:ext cx="3248837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Pipeline Monitoring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2822873"/>
            <a:ext cx="324883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ADF, Databricks and Airflow pipeline runs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8812" y="2682478"/>
            <a:ext cx="282766" cy="2827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81284" y="2355056"/>
            <a:ext cx="3248936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Execution Logs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281284" y="2822873"/>
            <a:ext cx="3248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Maintain job status, errors and execution details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3661" y="3006229"/>
            <a:ext cx="282766" cy="2827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81284" y="4398863"/>
            <a:ext cx="3248936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Quality Check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8281284" y="4866680"/>
            <a:ext cx="3248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Pytest validates data across Bronze, Silver and Gold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19918" y="4861123"/>
            <a:ext cx="282766" cy="28277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1475" y="4398863"/>
            <a:ext cx="3248837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Failure Alerts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661475" y="4866680"/>
            <a:ext cx="324883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 Slack notifications for pipeline failures</a:t>
            </a:r>
            <a:endParaRPr lang="en-US" sz="14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5070" y="4537373"/>
            <a:ext cx="282766" cy="2827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5324"/>
            <a:ext cx="10868745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Slack Integration:</a:t>
            </a: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Azure Databricks sends notifications when pipeline jobs </a:t>
            </a:r>
            <a:r>
              <a:rPr lang="en-US" sz="18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start, complete successfully, or fail</a:t>
            </a:r>
            <a:r>
              <a:rPr lang="en-US" sz="1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helping the team monitor job execution and quickly respond to pipeline failures.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24348"/>
            <a:ext cx="5203794" cy="292248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776" y="2724348"/>
            <a:ext cx="5203794" cy="29257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Pipeline Orchestration — Apache Airflow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09538"/>
            <a:ext cx="1015974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436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5C4E3D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Business Impact &amp; Outcomes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12368"/>
            <a:ext cx="2575357" cy="2001937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107730"/>
            <a:ext cx="2184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Faster Insights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516412"/>
            <a:ext cx="21846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social media sentiment and trends efficiently.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25839" y="2912368"/>
            <a:ext cx="2575456" cy="2001937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21195" y="3107730"/>
            <a:ext cx="21847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Better Data Quality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621195" y="3811687"/>
            <a:ext cx="21847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Cleaned and validated data supports reliable analysis.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912368"/>
            <a:ext cx="2575456" cy="2001937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5658" y="3107730"/>
            <a:ext cx="21847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&amp; Topic Insights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85658" y="3811687"/>
            <a:ext cx="21847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sentiment patterns across users and topics.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54764" y="2912368"/>
            <a:ext cx="2575456" cy="2001937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50121" y="3107730"/>
            <a:ext cx="21847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Operational Efficiency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150121" y="3811687"/>
            <a:ext cx="21847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pipelines reduce manual data processing.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1336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Thank You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991</Words>
  <Application>Microsoft Office PowerPoint</Application>
  <PresentationFormat>Widescreen</PresentationFormat>
  <Paragraphs>174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Libre Baskerville Bold</vt:lpstr>
      <vt:lpstr>Libre Baskerville</vt:lpstr>
      <vt:lpstr>DM Sans Bold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Rakesh Kumar V</dc:creator>
  <cp:lastModifiedBy>Rakesh Kumar V</cp:lastModifiedBy>
  <cp:revision>8</cp:revision>
  <dcterms:created xsi:type="dcterms:W3CDTF">2026-09-12T14:31:07Z</dcterms:created>
  <dcterms:modified xsi:type="dcterms:W3CDTF">2026-09-12T15:16:06Z</dcterms:modified>
</cp:coreProperties>
</file>